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open the black box — walk through exactly what happens inside a large language model from the moment you send a prompt to the moment tokens start streaming back. We'll go step by step, and I'll try to give you a strong mental model for each stage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LLMs like GPT and Llama are decode-only transformers — they generate text one token at a time, left to right, like finishing someone's sentence. Think of it like a very sophisticated autocomplete engine — one that's read a significant fraction of the internet. The key insight is that the model has just one job: predict the next token given everything that came before. And it does this in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model can do anything, raw text must be converted into tokens — small chunks that are usually words, subwords, or punctuation. The model works with a fixed vocabulary of around 32K to 100K token IDs. Common words like 'the' are a single token; rare words get split into pieces — 'unbelievable' becomes 'un', 'believ', 'able'. This is a pre-built dictionary, not something the model learned. Think of it as translating human language into the model's native language of integers.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token ID is looked up in an embedding table, producing a dense vector — typically 4096 numbers — that represents the token's meaning. These vectors live in a high-dimensional space where similar concepts cluster together. But the model also needs to know where each token sits in the sequence — 'dog bites man' vs 'man bites dog' mean very different things. So positional encodings are added to each embedding to encode order. The result is a rich numerical representation of both what the token is and where it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Self-attention is the core mechanism that lets each token look at every previous token and decide which ones are relevant. Think of reading a sentence and highlighting the words that help you understand the current word — that's what attention does, mathematically. Each token produces three vectors: a Query — what am I looking for? A Key — what do I contain? And a Value — what information do I share? Attention scores come from comparing each Query against all previous Keys. Multi-head attention runs this process in parallel, letting the model attend to grammar, meaning, and context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attention gathers context, each token passes through a feed-forward network — two large matrix multiplications with an activation function in between. If attention is about relationships between words, the FFN is about applying stored knowledge. These layers are where most of the model's parameters live — they act like a vast compressed database of learned information. Each transformer block pairs one attention layer with one FFN. A typical model stacks 32 to 80 of these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processes tokens through dozens of transformer blocks in sequence — each one refining the representation further. Early layers capture surface-level features: syntax, grammar. Middle layers build more abstract understanding: entities, semantic roles, factual associations. Later layers focus on task-specific reasoning — deciding what the actual next word should be. Residual connections mean information can skip ahead, and layer normalization keeps everything numerically stable across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final transformer block, we only care about the last token's vector — that's the one predicting what comes next. This vector is multiplied by the embedding table to produce a score, called a logit, for every token in the vocabulary. A softmax function converts these into probabilities. A sampling strategy then picks the actual next token: greedy takes the highest, temperature sampling adds randomness, top-k and top-p choose from the most likely candidates. The chosen token is appended to the sequence, and the whole process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Naively, generating each new token would require reprocessing the entire sequence from scratch — this gets very expensive as the output grows. The KV cache solves this by storing the Key and Value vectors from all previous tokens, so they don't need to be recomputed. When generating token 100, only the new token needs to go through the full computation. This is a classic time-space tradeoff: more memory in exchange for dramatically less computation. The KV cache is a major reason LLM inference is memory-bound rather than compute-bound.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has two distinct phases. In the prefill phase, the model processes your entire input prompt in one parallel batch — compute-heavy but fast because all tokens are handled simultaneously. In the decode phase, the model generates output tokens one at a time in a sequential loop. Prefill is like reading a whole page at once; decode is like writing one word at a time. Time-to-first-token is dominated by prefill; tokens-per-second after that is determined by decode speed. Understanding this split is key to optimizing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pipeline: tokenize, embed, pass through N transformer blocks — attention plus FFN each — project to vocabulary, sample, repeat. A single forward pass through a large model involves billions of multiply-add operations, yet produces just one token. A typical response of 200 tokens means 200 sequential forward passes through the entire model. The magic isn't in any single component — it's in scale: enough parameters, enough training data, enough layers to capture the patterns of language. Current research focuses on making this faster through speculative decoding, quantization, and better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F1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3000"/>
          </a:blip>
          <a:stretch>
            <a:fillRect/>
          </a:stretch>
        </p:blipFill>
        <p:spPr>
          <a:xfrm>
            <a:off x="0" y="0"/>
            <a:ext cx="18288000" cy="10287000"/>
          </a:xfrm>
          <a:prstGeom prst="rect">
            <a:avLst/>
          </a:prstGeom>
        </p:spPr>
      </p:pic>
      <p:sp>
        <p:nvSpPr>
          <p:cNvPr id="3" name="Shape 0"/>
          <p:cNvSpPr/>
          <p:nvPr/>
        </p:nvSpPr>
        <p:spPr>
          <a:xfrm>
            <a:off x="10477500" y="-2095500"/>
            <a:ext cx="8572500" cy="8572500"/>
          </a:xfrm>
          <a:prstGeom prst="rect">
            <a:avLst/>
          </a:prstGeom>
          <a:solidFill>
            <a:srgbClr val="4F9CF9">
              <a:alpha val="10000"/>
            </a:srgbClr>
          </a:solidFill>
          <a:ln/>
        </p:spPr>
      </p:sp>
      <p:sp>
        <p:nvSpPr>
          <p:cNvPr id="4" name="Shape 1"/>
          <p:cNvSpPr/>
          <p:nvPr/>
        </p:nvSpPr>
        <p:spPr>
          <a:xfrm>
            <a:off x="1524000" y="5715000"/>
            <a:ext cx="6667500" cy="6667500"/>
          </a:xfrm>
          <a:prstGeom prst="rect">
            <a:avLst/>
          </a:prstGeom>
          <a:solidFill>
            <a:srgbClr val="2DD4C0">
              <a:alpha val="7000"/>
            </a:srgbClr>
          </a:solidFill>
          <a:ln/>
        </p:spPr>
      </p:sp>
      <p:sp>
        <p:nvSpPr>
          <p:cNvPr id="5" name="Text 2"/>
          <p:cNvSpPr/>
          <p:nvPr/>
        </p:nvSpPr>
        <p:spPr>
          <a:xfrm>
            <a:off x="1143000" y="2012677"/>
            <a:ext cx="12753975" cy="33813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2DD4C0"/>
                </a:solidFill>
                <a:latin typeface="Courier New" pitchFamily="34" charset="0"/>
                <a:ea typeface="Courier New" pitchFamily="34" charset="-122"/>
                <a:cs typeface="Courier New" pitchFamily="34" charset="-120"/>
              </a:rPr>
              <a:t>LLM DEEP DIVE</a:t>
            </a:r>
            <a:endParaRPr lang="en-US" sz="1800" dirty="0"/>
          </a:p>
        </p:txBody>
      </p:sp>
      <p:sp>
        <p:nvSpPr>
          <p:cNvPr id="6" name="Text 3"/>
          <p:cNvSpPr/>
          <p:nvPr/>
        </p:nvSpPr>
        <p:spPr>
          <a:xfrm>
            <a:off x="1143000" y="2579415"/>
            <a:ext cx="12753975" cy="28956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225" kern="0" dirty="0">
                <a:solidFill>
                  <a:srgbClr val="E8EAF2"/>
                </a:solidFill>
                <a:latin typeface="Arial" pitchFamily="34" charset="0"/>
                <a:ea typeface="Arial" pitchFamily="34" charset="-122"/>
                <a:cs typeface="Arial" pitchFamily="34" charset="-120"/>
              </a:rPr>
              <a:t>How Large Language Models </a:t>
            </a:r>
            <a:pPr algn="l" indent="0" marL="0">
              <a:lnSpc>
                <a:spcPct val="100000"/>
              </a:lnSpc>
              <a:buNone/>
            </a:pPr>
            <a:r>
              <a:rPr lang="en-US" sz="7500" b="1" spc="-225" kern="0" dirty="0">
                <a:solidFill>
                  <a:srgbClr val="4F9CF9"/>
                </a:solidFill>
                <a:latin typeface="Arial" pitchFamily="34" charset="0"/>
                <a:ea typeface="Arial" pitchFamily="34" charset="-122"/>
                <a:cs typeface="Arial" pitchFamily="34" charset="-120"/>
              </a:rPr>
              <a:t>Perform Inference</a:t>
            </a:r>
            <a:endParaRPr lang="en-US" sz="7500" dirty="0"/>
          </a:p>
        </p:txBody>
      </p:sp>
      <p:sp>
        <p:nvSpPr>
          <p:cNvPr id="7" name="Text 4"/>
          <p:cNvSpPr/>
          <p:nvPr/>
        </p:nvSpPr>
        <p:spPr>
          <a:xfrm>
            <a:off x="1143000" y="5779815"/>
            <a:ext cx="8829675" cy="1041946"/>
          </a:xfrm>
          <a:prstGeom prst="rect">
            <a:avLst/>
          </a:prstGeom>
          <a:noFill/>
          <a:ln/>
        </p:spPr>
        <p:txBody>
          <a:bodyPr wrap="square" lIns="25400" tIns="25400" rIns="25400" bIns="25400" rtlCol="0" anchor="t">
            <a:normAutofit/>
          </a:bodyPr>
          <a:lstStyle/>
          <a:p>
            <a:pPr algn="l" indent="0" marL="0">
              <a:lnSpc>
                <a:spcPct val="155000"/>
              </a:lnSpc>
              <a:buNone/>
            </a:pPr>
            <a:r>
              <a:rPr lang="en-US" sz="2550" dirty="0">
                <a:solidFill>
                  <a:srgbClr val="717899"/>
                </a:solidFill>
                <a:latin typeface="Arial" pitchFamily="34" charset="0"/>
                <a:ea typeface="Arial" pitchFamily="34" charset="-122"/>
                <a:cs typeface="Arial" pitchFamily="34" charset="-120"/>
              </a:rPr>
              <a:t>A technical walkthrough of the transformer inference pipeline — from raw text in to generated tokens out.</a:t>
            </a:r>
            <a:endParaRPr lang="en-US" sz="2550" dirty="0"/>
          </a:p>
        </p:txBody>
      </p:sp>
      <p:sp>
        <p:nvSpPr>
          <p:cNvPr id="8" name="Text 5"/>
          <p:cNvSpPr/>
          <p:nvPr/>
        </p:nvSpPr>
        <p:spPr>
          <a:xfrm>
            <a:off x="1143000" y="7431360"/>
            <a:ext cx="1144786"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dirty="0">
                <a:solidFill>
                  <a:srgbClr val="4F9CF9"/>
                </a:solidFill>
                <a:latin typeface="Arial" pitchFamily="34" charset="0"/>
                <a:ea typeface="Arial" pitchFamily="34" charset="-122"/>
                <a:cs typeface="Arial" pitchFamily="34" charset="-120"/>
              </a:rPr>
              <a:t>10</a:t>
            </a:r>
            <a:endParaRPr lang="en-US" sz="3900" dirty="0"/>
          </a:p>
        </p:txBody>
      </p:sp>
      <p:sp>
        <p:nvSpPr>
          <p:cNvPr id="9" name="Text 6"/>
          <p:cNvSpPr/>
          <p:nvPr/>
        </p:nvSpPr>
        <p:spPr>
          <a:xfrm>
            <a:off x="1143000" y="7983810"/>
            <a:ext cx="1144786" cy="328613"/>
          </a:xfrm>
          <a:prstGeom prst="rect">
            <a:avLst/>
          </a:prstGeom>
          <a:noFill/>
          <a:ln/>
        </p:spPr>
        <p:txBody>
          <a:bodyPr wrap="square" lIns="25400" tIns="25400" rIns="25400" bIns="25400" rtlCol="0" anchor="t">
            <a:normAutofit/>
          </a:bodyPr>
          <a:lstStyle/>
          <a:p>
            <a:pPr algn="l" indent="0" marL="0">
              <a:buNone/>
            </a:pPr>
            <a:r>
              <a:rPr lang="en-US" sz="1800" dirty="0">
                <a:solidFill>
                  <a:srgbClr val="717899"/>
                </a:solidFill>
                <a:latin typeface="Arial" pitchFamily="34" charset="0"/>
                <a:ea typeface="Arial" pitchFamily="34" charset="-122"/>
                <a:cs typeface="Arial" pitchFamily="34" charset="-120"/>
              </a:rPr>
              <a:t>Concepts</a:t>
            </a:r>
            <a:endParaRPr lang="en-US" sz="1800" dirty="0"/>
          </a:p>
        </p:txBody>
      </p:sp>
      <p:sp>
        <p:nvSpPr>
          <p:cNvPr id="10" name="Shape 7"/>
          <p:cNvSpPr/>
          <p:nvPr/>
        </p:nvSpPr>
        <p:spPr>
          <a:xfrm>
            <a:off x="2706886" y="7586142"/>
            <a:ext cx="9525" cy="533400"/>
          </a:xfrm>
          <a:prstGeom prst="rect">
            <a:avLst/>
          </a:prstGeom>
          <a:solidFill>
            <a:srgbClr val="FFFFFF">
              <a:alpha val="7000"/>
            </a:srgbClr>
          </a:solidFill>
          <a:ln/>
        </p:spPr>
      </p:sp>
      <p:sp>
        <p:nvSpPr>
          <p:cNvPr id="11" name="Text 8"/>
          <p:cNvSpPr/>
          <p:nvPr/>
        </p:nvSpPr>
        <p:spPr>
          <a:xfrm>
            <a:off x="3211711" y="7431360"/>
            <a:ext cx="1606153"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dirty="0">
                <a:solidFill>
                  <a:srgbClr val="2DD4C0"/>
                </a:solidFill>
                <a:latin typeface="Arial" pitchFamily="34" charset="0"/>
                <a:ea typeface="Arial" pitchFamily="34" charset="-122"/>
                <a:cs typeface="Arial" pitchFamily="34" charset="-120"/>
              </a:rPr>
              <a:t>1B+</a:t>
            </a:r>
            <a:endParaRPr lang="en-US" sz="3900" dirty="0"/>
          </a:p>
        </p:txBody>
      </p:sp>
      <p:sp>
        <p:nvSpPr>
          <p:cNvPr id="12" name="Text 9"/>
          <p:cNvSpPr/>
          <p:nvPr/>
        </p:nvSpPr>
        <p:spPr>
          <a:xfrm>
            <a:off x="3211711" y="7983810"/>
            <a:ext cx="1606153" cy="328613"/>
          </a:xfrm>
          <a:prstGeom prst="rect">
            <a:avLst/>
          </a:prstGeom>
          <a:noFill/>
          <a:ln/>
        </p:spPr>
        <p:txBody>
          <a:bodyPr wrap="square" lIns="25400" tIns="25400" rIns="25400" bIns="25400" rtlCol="0" anchor="t">
            <a:normAutofit/>
          </a:bodyPr>
          <a:lstStyle/>
          <a:p>
            <a:pPr algn="l" indent="0" marL="0">
              <a:buNone/>
            </a:pPr>
            <a:r>
              <a:rPr lang="en-US" sz="1800" dirty="0">
                <a:solidFill>
                  <a:srgbClr val="717899"/>
                </a:solidFill>
                <a:latin typeface="Arial" pitchFamily="34" charset="0"/>
                <a:ea typeface="Arial" pitchFamily="34" charset="-122"/>
                <a:cs typeface="Arial" pitchFamily="34" charset="-120"/>
              </a:rPr>
              <a:t>ops per token</a:t>
            </a:r>
            <a:endParaRPr lang="en-US" sz="1800" dirty="0"/>
          </a:p>
        </p:txBody>
      </p:sp>
      <p:sp>
        <p:nvSpPr>
          <p:cNvPr id="13" name="Shape 10"/>
          <p:cNvSpPr/>
          <p:nvPr/>
        </p:nvSpPr>
        <p:spPr>
          <a:xfrm>
            <a:off x="5236964" y="7586142"/>
            <a:ext cx="9525" cy="533400"/>
          </a:xfrm>
          <a:prstGeom prst="rect">
            <a:avLst/>
          </a:prstGeom>
          <a:solidFill>
            <a:srgbClr val="FFFFFF">
              <a:alpha val="7000"/>
            </a:srgbClr>
          </a:solidFill>
          <a:ln/>
        </p:spPr>
      </p:sp>
      <p:sp>
        <p:nvSpPr>
          <p:cNvPr id="14" name="Text 11"/>
          <p:cNvSpPr/>
          <p:nvPr/>
        </p:nvSpPr>
        <p:spPr>
          <a:xfrm>
            <a:off x="5741789" y="7431360"/>
            <a:ext cx="1946077"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dirty="0">
                <a:solidFill>
                  <a:srgbClr val="A78BFA"/>
                </a:solidFill>
                <a:latin typeface="Arial" pitchFamily="34" charset="0"/>
                <a:ea typeface="Arial" pitchFamily="34" charset="-122"/>
                <a:cs typeface="Arial" pitchFamily="34" charset="-120"/>
              </a:rPr>
              <a:t>1 token</a:t>
            </a:r>
            <a:endParaRPr lang="en-US" sz="3900" dirty="0"/>
          </a:p>
        </p:txBody>
      </p:sp>
      <p:sp>
        <p:nvSpPr>
          <p:cNvPr id="15" name="Text 12"/>
          <p:cNvSpPr/>
          <p:nvPr/>
        </p:nvSpPr>
        <p:spPr>
          <a:xfrm>
            <a:off x="5741789" y="7983810"/>
            <a:ext cx="1946077" cy="328613"/>
          </a:xfrm>
          <a:prstGeom prst="rect">
            <a:avLst/>
          </a:prstGeom>
          <a:noFill/>
          <a:ln/>
        </p:spPr>
        <p:txBody>
          <a:bodyPr wrap="square" lIns="25400" tIns="25400" rIns="25400" bIns="25400" rtlCol="0" anchor="t">
            <a:normAutofit/>
          </a:bodyPr>
          <a:lstStyle/>
          <a:p>
            <a:pPr algn="l" indent="0" marL="0">
              <a:buNone/>
            </a:pPr>
            <a:r>
              <a:rPr lang="en-US" sz="1800" dirty="0">
                <a:solidFill>
                  <a:srgbClr val="717899"/>
                </a:solidFill>
                <a:latin typeface="Arial" pitchFamily="34" charset="0"/>
                <a:ea typeface="Arial" pitchFamily="34" charset="-122"/>
                <a:cs typeface="Arial" pitchFamily="34" charset="-120"/>
              </a:rPr>
              <a:t>per forward pass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01 — ARCHITECTURE</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Decode-Only Transformers</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28834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One job: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predict the next token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given all previous tokens</a:t>
            </a:r>
            <a:endParaRPr lang="en-US" sz="2100" dirty="0"/>
          </a:p>
        </p:txBody>
      </p:sp>
      <p:sp>
        <p:nvSpPr>
          <p:cNvPr id="7" name="Text 4"/>
          <p:cNvSpPr/>
          <p:nvPr/>
        </p:nvSpPr>
        <p:spPr>
          <a:xfrm>
            <a:off x="13796963" y="43693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Each output token is appended and becomes </a:t>
            </a:r>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the next input</a:t>
            </a:r>
            <a:endParaRPr lang="en-US" sz="2100" dirty="0"/>
          </a:p>
        </p:txBody>
      </p:sp>
      <p:sp>
        <p:nvSpPr>
          <p:cNvPr id="8" name="Text 5"/>
          <p:cNvSpPr/>
          <p:nvPr/>
        </p:nvSpPr>
        <p:spPr>
          <a:xfrm>
            <a:off x="13796963" y="5855271"/>
            <a:ext cx="3652695"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A deep stack of transformer blocks, each refining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what token comes next</a:t>
            </a:r>
            <a:endParaRPr lang="en-US" sz="2100" dirty="0"/>
          </a:p>
        </p:txBody>
      </p:sp>
      <p:sp>
        <p:nvSpPr>
          <p:cNvPr id="9" name="Text 6"/>
          <p:cNvSpPr/>
          <p:nvPr/>
        </p:nvSpPr>
        <p:spPr>
          <a:xfrm>
            <a:off x="13796963" y="774122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Causal masking: tokens can only attend to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what came before</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02 — INPUT</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Tokenization</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28834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Text split into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subword chunks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words, pieces, or punctuation</a:t>
            </a:r>
            <a:endParaRPr lang="en-US" sz="2100" dirty="0"/>
          </a:p>
        </p:txBody>
      </p:sp>
      <p:sp>
        <p:nvSpPr>
          <p:cNvPr id="7" name="Text 4"/>
          <p:cNvSpPr/>
          <p:nvPr/>
        </p:nvSpPr>
        <p:spPr>
          <a:xfrm>
            <a:off x="13796963" y="43693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Each chunk maps to an </a:t>
            </a:r>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integer ID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in a fixed vocabulary</a:t>
            </a:r>
            <a:endParaRPr lang="en-US" sz="2100" dirty="0"/>
          </a:p>
        </p:txBody>
      </p:sp>
      <p:sp>
        <p:nvSpPr>
          <p:cNvPr id="8" name="Text 5"/>
          <p:cNvSpPr/>
          <p:nvPr/>
        </p:nvSpPr>
        <p:spPr>
          <a:xfrm>
            <a:off x="13796963" y="5855271"/>
            <a:ext cx="3652695"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Rare words split into pieces; common words stay whole —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"the" = 1 token</a:t>
            </a:r>
            <a:endParaRPr lang="en-US" sz="2100" dirty="0"/>
          </a:p>
        </p:txBody>
      </p:sp>
      <p:sp>
        <p:nvSpPr>
          <p:cNvPr id="9" name="Text 6"/>
          <p:cNvSpPr/>
          <p:nvPr/>
        </p:nvSpPr>
        <p:spPr>
          <a:xfrm>
            <a:off x="13796963" y="774122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Pre-built BPE dictionary —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not learned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during model training</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03 — REPRESENTATION</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Embeddings &amp; Positional Encoding</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30834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Token ID → lookup in table →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dense vector of ~4096 numbers</a:t>
            </a:r>
            <a:endParaRPr lang="en-US" sz="2100" dirty="0"/>
          </a:p>
        </p:txBody>
      </p:sp>
      <p:sp>
        <p:nvSpPr>
          <p:cNvPr id="7" name="Text 4"/>
          <p:cNvSpPr/>
          <p:nvPr/>
        </p:nvSpPr>
        <p:spPr>
          <a:xfrm>
            <a:off x="13796963" y="45693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Similar tokens cluster nearby: </a:t>
            </a:r>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"king" ≈ "queen"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"cat" ≈ "dog"</a:t>
            </a:r>
            <a:endParaRPr lang="en-US" sz="2100" dirty="0"/>
          </a:p>
        </p:txBody>
      </p:sp>
      <p:sp>
        <p:nvSpPr>
          <p:cNvPr id="8" name="Text 5"/>
          <p:cNvSpPr/>
          <p:nvPr/>
        </p:nvSpPr>
        <p:spPr>
          <a:xfrm>
            <a:off x="13796963" y="60552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Positional encodings add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token order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order changes meaning</a:t>
            </a:r>
            <a:endParaRPr lang="en-US" sz="2100" dirty="0"/>
          </a:p>
        </p:txBody>
      </p:sp>
      <p:sp>
        <p:nvSpPr>
          <p:cNvPr id="9" name="Text 6"/>
          <p:cNvSpPr/>
          <p:nvPr/>
        </p:nvSpPr>
        <p:spPr>
          <a:xfrm>
            <a:off x="13796963" y="75411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Result encodes both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what the token is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and where it sits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04 — CORE MECHANISM</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Self-Attention</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28834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Each token asks: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which previous tokens matter most?</a:t>
            </a:r>
            <a:endParaRPr lang="en-US" sz="2100" dirty="0"/>
          </a:p>
        </p:txBody>
      </p:sp>
      <p:sp>
        <p:nvSpPr>
          <p:cNvPr id="7" name="Text 4"/>
          <p:cNvSpPr/>
          <p:nvPr/>
        </p:nvSpPr>
        <p:spPr>
          <a:xfrm>
            <a:off x="13796963" y="43693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Q · Kᵀ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computes relevance scores; softmax converts to attention weights</a:t>
            </a:r>
            <a:endParaRPr lang="en-US" sz="2100" dirty="0"/>
          </a:p>
        </p:txBody>
      </p:sp>
      <p:sp>
        <p:nvSpPr>
          <p:cNvPr id="8" name="Text 5"/>
          <p:cNvSpPr/>
          <p:nvPr/>
        </p:nvSpPr>
        <p:spPr>
          <a:xfrm>
            <a:off x="13796963" y="5855271"/>
            <a:ext cx="3652695"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Multi-head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attention runs H copies in parallel — grammar, semantics, context</a:t>
            </a:r>
            <a:endParaRPr lang="en-US" sz="2100" dirty="0"/>
          </a:p>
        </p:txBody>
      </p:sp>
      <p:sp>
        <p:nvSpPr>
          <p:cNvPr id="9" name="Text 6"/>
          <p:cNvSpPr/>
          <p:nvPr/>
        </p:nvSpPr>
        <p:spPr>
          <a:xfrm>
            <a:off x="13796963" y="774122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Causal masking: only attend to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prior tokens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never ahead</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05 — KNOWLEDGE STORE</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Feed-Forward Layers</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30834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Two matrix multiplies with activation —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most parameters live here</a:t>
            </a:r>
            <a:endParaRPr lang="en-US" sz="2100" dirty="0"/>
          </a:p>
        </p:txBody>
      </p:sp>
      <p:sp>
        <p:nvSpPr>
          <p:cNvPr id="7" name="Text 4"/>
          <p:cNvSpPr/>
          <p:nvPr/>
        </p:nvSpPr>
        <p:spPr>
          <a:xfrm>
            <a:off x="13796963" y="45693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Attention finds relevant context; FFN </a:t>
            </a:r>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applies stored knowledge</a:t>
            </a:r>
            <a:endParaRPr lang="en-US" sz="2100" dirty="0"/>
          </a:p>
        </p:txBody>
      </p:sp>
      <p:sp>
        <p:nvSpPr>
          <p:cNvPr id="8" name="Text 5"/>
          <p:cNvSpPr/>
          <p:nvPr/>
        </p:nvSpPr>
        <p:spPr>
          <a:xfrm>
            <a:off x="13796963" y="60552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Acts like a vast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compressed database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of learned facts and patterns</a:t>
            </a:r>
            <a:endParaRPr lang="en-US" sz="2100" dirty="0"/>
          </a:p>
        </p:txBody>
      </p:sp>
      <p:sp>
        <p:nvSpPr>
          <p:cNvPr id="9" name="Text 6"/>
          <p:cNvSpPr/>
          <p:nvPr/>
        </p:nvSpPr>
        <p:spPr>
          <a:xfrm>
            <a:off x="13796963" y="75411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One attention + one FFN = one block; stacked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32–80× deep</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06 — DEPTH</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Layer Stacking</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30834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Early layers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syntax, grammar, surface-level features</a:t>
            </a:r>
            <a:endParaRPr lang="en-US" sz="2100" dirty="0"/>
          </a:p>
        </p:txBody>
      </p:sp>
      <p:sp>
        <p:nvSpPr>
          <p:cNvPr id="7" name="Text 4"/>
          <p:cNvSpPr/>
          <p:nvPr/>
        </p:nvSpPr>
        <p:spPr>
          <a:xfrm>
            <a:off x="13796963" y="45693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Middle layers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entities, semantic roles, factual associations</a:t>
            </a:r>
            <a:endParaRPr lang="en-US" sz="2100" dirty="0"/>
          </a:p>
        </p:txBody>
      </p:sp>
      <p:sp>
        <p:nvSpPr>
          <p:cNvPr id="8" name="Text 5"/>
          <p:cNvSpPr/>
          <p:nvPr/>
        </p:nvSpPr>
        <p:spPr>
          <a:xfrm>
            <a:off x="13796963" y="60552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Late layers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task-specific reasoning, next-token prediction</a:t>
            </a:r>
            <a:endParaRPr lang="en-US" sz="2100" dirty="0"/>
          </a:p>
        </p:txBody>
      </p:sp>
      <p:sp>
        <p:nvSpPr>
          <p:cNvPr id="9" name="Text 6"/>
          <p:cNvSpPr/>
          <p:nvPr/>
        </p:nvSpPr>
        <p:spPr>
          <a:xfrm>
            <a:off x="13796963" y="75411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Residual connections pass early information forward —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nothing lost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07 — OUTPUT</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From Vectors to Words</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328352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Only the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last token's vector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matters — it predicts what comes next</a:t>
            </a:r>
            <a:endParaRPr lang="en-US" sz="2100" dirty="0"/>
          </a:p>
        </p:txBody>
      </p:sp>
      <p:sp>
        <p:nvSpPr>
          <p:cNvPr id="7" name="Text 4"/>
          <p:cNvSpPr/>
          <p:nvPr/>
        </p:nvSpPr>
        <p:spPr>
          <a:xfrm>
            <a:off x="13796963" y="4769421"/>
            <a:ext cx="3652695"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Logits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are raw scores for every vocabulary token</a:t>
            </a:r>
            <a:endParaRPr lang="en-US" sz="2100" dirty="0"/>
          </a:p>
        </p:txBody>
      </p:sp>
      <p:sp>
        <p:nvSpPr>
          <p:cNvPr id="8" name="Text 5"/>
          <p:cNvSpPr/>
          <p:nvPr/>
        </p:nvSpPr>
        <p:spPr>
          <a:xfrm>
            <a:off x="13796963" y="58552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Softmax converts logits to probabilities;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sampling picks the next token</a:t>
            </a:r>
            <a:endParaRPr lang="en-US" sz="2100" dirty="0"/>
          </a:p>
        </p:txBody>
      </p:sp>
      <p:sp>
        <p:nvSpPr>
          <p:cNvPr id="9" name="Text 6"/>
          <p:cNvSpPr/>
          <p:nvPr/>
        </p:nvSpPr>
        <p:spPr>
          <a:xfrm>
            <a:off x="13796963" y="7341171"/>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Token appended → sequence grows →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loop repeats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until done</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08 — OPTIMIZATION</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The KV Cache</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30834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Without cache: </a:t>
            </a:r>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reprocess entire sequence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per token — O(n²) cost</a:t>
            </a:r>
            <a:endParaRPr lang="en-US" sz="2100" dirty="0"/>
          </a:p>
        </p:txBody>
      </p:sp>
      <p:sp>
        <p:nvSpPr>
          <p:cNvPr id="7" name="Text 4"/>
          <p:cNvSpPr/>
          <p:nvPr/>
        </p:nvSpPr>
        <p:spPr>
          <a:xfrm>
            <a:off x="13796963" y="45693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KV cache stores K and V; only </a:t>
            </a:r>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the new token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is computed fresh</a:t>
            </a:r>
            <a:endParaRPr lang="en-US" sz="2100" dirty="0"/>
          </a:p>
        </p:txBody>
      </p:sp>
      <p:sp>
        <p:nvSpPr>
          <p:cNvPr id="8" name="Text 5"/>
          <p:cNvSpPr/>
          <p:nvPr/>
        </p:nvSpPr>
        <p:spPr>
          <a:xfrm>
            <a:off x="13796963" y="60552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Inference becomes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memory-bound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not compute-bound</a:t>
            </a:r>
            <a:endParaRPr lang="en-US" sz="2100" dirty="0"/>
          </a:p>
        </p:txBody>
      </p:sp>
      <p:sp>
        <p:nvSpPr>
          <p:cNvPr id="9" name="Text 6"/>
          <p:cNvSpPr/>
          <p:nvPr/>
        </p:nvSpPr>
        <p:spPr>
          <a:xfrm>
            <a:off x="13796963" y="75411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Long contexts are hard: cache grows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linearly with sequence length</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952500" y="685800"/>
            <a:ext cx="1687449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09 — INFERENCE PHASES</a:t>
            </a:r>
            <a:endParaRPr lang="en-US" sz="1800" dirty="0"/>
          </a:p>
        </p:txBody>
      </p:sp>
      <p:sp>
        <p:nvSpPr>
          <p:cNvPr id="3" name="Text 1"/>
          <p:cNvSpPr/>
          <p:nvPr/>
        </p:nvSpPr>
        <p:spPr>
          <a:xfrm>
            <a:off x="952500" y="1138238"/>
            <a:ext cx="16874490" cy="704404"/>
          </a:xfrm>
          <a:prstGeom prst="rect">
            <a:avLst/>
          </a:prstGeom>
          <a:noFill/>
          <a:ln/>
        </p:spPr>
        <p:txBody>
          <a:bodyPr wrap="square" lIns="25400" tIns="25400" rIns="25400" bIns="25400" rtlCol="0" anchor="t">
            <a:normAutofit/>
          </a:bodyPr>
          <a:lstStyle/>
          <a:p>
            <a:pPr algn="l" indent="0" marL="0">
              <a:lnSpc>
                <a:spcPct val="106000"/>
              </a:lnSpc>
              <a:buNone/>
            </a:pPr>
            <a:r>
              <a:rPr lang="en-US" sz="4950" b="1" spc="-124" kern="0" dirty="0">
                <a:solidFill>
                  <a:srgbClr val="E8EAF2"/>
                </a:solidFill>
                <a:latin typeface="Arial" pitchFamily="34" charset="0"/>
                <a:ea typeface="Arial" pitchFamily="34" charset="-122"/>
                <a:cs typeface="Arial" pitchFamily="34" charset="-120"/>
              </a:rPr>
              <a:t>Prefill vs. Decode</a:t>
            </a:r>
            <a:endParaRPr lang="en-US" sz="4950" dirty="0"/>
          </a:p>
        </p:txBody>
      </p:sp>
      <p:sp>
        <p:nvSpPr>
          <p:cNvPr id="4" name="Shape 2"/>
          <p:cNvSpPr/>
          <p:nvPr/>
        </p:nvSpPr>
        <p:spPr>
          <a:xfrm>
            <a:off x="952500" y="2223641"/>
            <a:ext cx="11891963" cy="7377559"/>
          </a:xfrm>
          <a:prstGeom prst="roundRect">
            <a:avLst>
              <a:gd name="adj" fmla="val 2066"/>
            </a:avLst>
          </a:prstGeom>
          <a:solidFill>
            <a:srgbClr val="161B26"/>
          </a:solidFill>
          <a:ln w="9525">
            <a:solidFill>
              <a:srgbClr val="FFFFFF">
                <a:alpha val="7000"/>
              </a:srgbClr>
            </a:solidFill>
            <a:prstDash val="solid"/>
          </a:ln>
        </p:spPr>
      </p:sp>
      <p:pic>
        <p:nvPicPr>
          <p:cNvPr id="5" name="Image 0" descr="preencoded.png">    </p:cNvPr>
          <p:cNvPicPr>
            <a:picLocks noChangeAspect="1"/>
          </p:cNvPicPr>
          <p:nvPr/>
        </p:nvPicPr>
        <p:blipFill>
          <a:blip r:embed="rId1"/>
          <a:stretch>
            <a:fillRect/>
          </a:stretch>
        </p:blipFill>
        <p:spPr>
          <a:xfrm>
            <a:off x="1190625" y="2423666"/>
            <a:ext cx="11415713" cy="6977509"/>
          </a:xfrm>
          <a:prstGeom prst="rect">
            <a:avLst/>
          </a:prstGeom>
        </p:spPr>
      </p:pic>
      <p:sp>
        <p:nvSpPr>
          <p:cNvPr id="6" name="Text 3"/>
          <p:cNvSpPr/>
          <p:nvPr/>
        </p:nvSpPr>
        <p:spPr>
          <a:xfrm>
            <a:off x="13796963" y="30834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4F9CF9"/>
                </a:solidFill>
                <a:latin typeface="Arial" pitchFamily="34" charset="0"/>
                <a:ea typeface="Arial" pitchFamily="34" charset="-122"/>
                <a:cs typeface="Arial" pitchFamily="34" charset="-120"/>
              </a:rPr>
              <a:t>Prefill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entire prompt processed in one parallel batch</a:t>
            </a:r>
            <a:endParaRPr lang="en-US" sz="2100" dirty="0"/>
          </a:p>
        </p:txBody>
      </p:sp>
      <p:sp>
        <p:nvSpPr>
          <p:cNvPr id="7" name="Text 4"/>
          <p:cNvSpPr/>
          <p:nvPr/>
        </p:nvSpPr>
        <p:spPr>
          <a:xfrm>
            <a:off x="13796963" y="45693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2DD4C0"/>
                </a:solidFill>
                <a:latin typeface="Arial" pitchFamily="34" charset="0"/>
                <a:ea typeface="Arial" pitchFamily="34" charset="-122"/>
                <a:cs typeface="Arial" pitchFamily="34" charset="-120"/>
              </a:rPr>
              <a:t>Decode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 tokens generated one-at-a-time in a sequential loop</a:t>
            </a:r>
            <a:endParaRPr lang="en-US" sz="2100" dirty="0"/>
          </a:p>
        </p:txBody>
      </p:sp>
      <p:sp>
        <p:nvSpPr>
          <p:cNvPr id="8" name="Text 5"/>
          <p:cNvSpPr/>
          <p:nvPr/>
        </p:nvSpPr>
        <p:spPr>
          <a:xfrm>
            <a:off x="13796963" y="60552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TTFT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is prefill speed; </a:t>
            </a:r>
            <a:pPr algn="l" indent="0" marL="0">
              <a:lnSpc>
                <a:spcPct val="150000"/>
              </a:lnSpc>
              <a:buNone/>
            </a:pPr>
            <a:r>
              <a:rPr lang="en-US" sz="2100" b="1" dirty="0">
                <a:solidFill>
                  <a:srgbClr val="A78BFA"/>
                </a:solidFill>
                <a:latin typeface="Arial" pitchFamily="34" charset="0"/>
                <a:ea typeface="Arial" pitchFamily="34" charset="-122"/>
                <a:cs typeface="Arial" pitchFamily="34" charset="-120"/>
              </a:rPr>
              <a:t>tokens/sec </a:t>
            </a:r>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is decode throughput</a:t>
            </a:r>
            <a:endParaRPr lang="en-US" sz="2100" dirty="0"/>
          </a:p>
        </p:txBody>
      </p:sp>
      <p:sp>
        <p:nvSpPr>
          <p:cNvPr id="9" name="Text 6"/>
          <p:cNvSpPr/>
          <p:nvPr/>
        </p:nvSpPr>
        <p:spPr>
          <a:xfrm>
            <a:off x="13796963" y="7541196"/>
            <a:ext cx="365269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E8EAF2"/>
                </a:solidFill>
                <a:latin typeface="Arial" pitchFamily="34" charset="0"/>
                <a:ea typeface="Arial" pitchFamily="34" charset="-122"/>
                <a:cs typeface="Arial" pitchFamily="34" charset="-120"/>
              </a:rPr>
              <a:t>Different hardware and batching strategies </a:t>
            </a:r>
            <a:pPr algn="l" indent="0" marL="0">
              <a:lnSpc>
                <a:spcPct val="150000"/>
              </a:lnSpc>
              <a:buNone/>
            </a:pPr>
            <a:r>
              <a:rPr lang="en-US" sz="2100" b="1" dirty="0">
                <a:solidFill>
                  <a:srgbClr val="F5A623"/>
                </a:solidFill>
                <a:latin typeface="Arial" pitchFamily="34" charset="0"/>
                <a:ea typeface="Arial" pitchFamily="34" charset="-122"/>
                <a:cs typeface="Arial" pitchFamily="34" charset="-120"/>
              </a:rPr>
              <a:t>target each phase separately</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F14"/>
        </a:solidFill>
      </p:bgPr>
    </p:bg>
    <p:spTree>
      <p:nvGrpSpPr>
        <p:cNvPr id="1" name=""/>
        <p:cNvGrpSpPr/>
        <p:nvPr/>
      </p:nvGrpSpPr>
      <p:grpSpPr>
        <a:xfrm>
          <a:off x="0" y="0"/>
          <a:ext cx="0" cy="0"/>
          <a:chOff x="0" y="0"/>
          <a:chExt cx="0" cy="0"/>
        </a:xfrm>
      </p:grpSpPr>
      <p:sp>
        <p:nvSpPr>
          <p:cNvPr id="2" name="Text 0"/>
          <p:cNvSpPr/>
          <p:nvPr/>
        </p:nvSpPr>
        <p:spPr>
          <a:xfrm>
            <a:off x="762000" y="609600"/>
            <a:ext cx="17266920" cy="338138"/>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4F9CF9">
                    <a:alpha val="90000"/>
                  </a:srgbClr>
                </a:solidFill>
                <a:latin typeface="Courier New" pitchFamily="34" charset="0"/>
                <a:ea typeface="Courier New" pitchFamily="34" charset="-122"/>
                <a:cs typeface="Courier New" pitchFamily="34" charset="-120"/>
              </a:rPr>
              <a:t>10 — FULL PIPELINE</a:t>
            </a:r>
            <a:endParaRPr lang="en-US" sz="1800" dirty="0"/>
          </a:p>
        </p:txBody>
      </p:sp>
      <p:sp>
        <p:nvSpPr>
          <p:cNvPr id="3" name="Text 1"/>
          <p:cNvSpPr/>
          <p:nvPr/>
        </p:nvSpPr>
        <p:spPr>
          <a:xfrm>
            <a:off x="762000" y="1062038"/>
            <a:ext cx="17266920" cy="814388"/>
          </a:xfrm>
          <a:prstGeom prst="rect">
            <a:avLst/>
          </a:prstGeom>
          <a:noFill/>
          <a:ln/>
        </p:spPr>
        <p:txBody>
          <a:bodyPr wrap="square" lIns="25400" tIns="25400" rIns="25400" bIns="25400" rtlCol="0" anchor="t">
            <a:normAutofit/>
          </a:bodyPr>
          <a:lstStyle/>
          <a:p>
            <a:pPr algn="l" indent="0" marL="0">
              <a:buNone/>
            </a:pPr>
            <a:r>
              <a:rPr lang="en-US" sz="4800" b="1" spc="-120" kern="0" dirty="0">
                <a:solidFill>
                  <a:srgbClr val="E8EAF2"/>
                </a:solidFill>
                <a:latin typeface="Arial" pitchFamily="34" charset="0"/>
                <a:ea typeface="Arial" pitchFamily="34" charset="-122"/>
                <a:cs typeface="Arial" pitchFamily="34" charset="-120"/>
              </a:rPr>
              <a:t>Putting It All Together</a:t>
            </a:r>
            <a:endParaRPr lang="en-US" sz="4800" dirty="0"/>
          </a:p>
        </p:txBody>
      </p:sp>
      <p:pic>
        <p:nvPicPr>
          <p:cNvPr id="4" name="Image 0" descr="preencoded.png">    </p:cNvPr>
          <p:cNvPicPr>
            <a:picLocks noChangeAspect="1"/>
          </p:cNvPicPr>
          <p:nvPr/>
        </p:nvPicPr>
        <p:blipFill>
          <a:blip r:embed="rId1"/>
          <a:stretch>
            <a:fillRect/>
          </a:stretch>
        </p:blipFill>
        <p:spPr>
          <a:xfrm>
            <a:off x="762000" y="2143125"/>
            <a:ext cx="16764000" cy="76866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2026-04-21T18:03:27Z</dcterms:created>
  <dcterms:modified xsi:type="dcterms:W3CDTF">2026-04-21T18:03:27Z</dcterms:modified>
</cp:coreProperties>
</file>